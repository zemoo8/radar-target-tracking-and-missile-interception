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73152" cy="685800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19" y="2926080"/>
            <a:ext cx="1005840" cy="10058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19" y="2468880"/>
            <a:ext cx="1920240" cy="19202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19" y="2011680"/>
            <a:ext cx="2834640" cy="2834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93808" y="3401568"/>
            <a:ext cx="969264" cy="54864"/>
          </a:xfrm>
          <a:prstGeom prst="rect">
            <a:avLst/>
          </a:prstGeom>
          <a:solidFill>
            <a:srgbClr val="D6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51008" y="2944368"/>
            <a:ext cx="54864" cy="969264"/>
          </a:xfrm>
          <a:prstGeom prst="rect">
            <a:avLst/>
          </a:prstGeom>
          <a:solidFill>
            <a:srgbClr val="D6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87000" y="3337560"/>
            <a:ext cx="182880" cy="182880"/>
          </a:xfrm>
          <a:prstGeom prst="ellipse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7863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RADAR TARGET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7863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E86A1A"/>
                </a:solidFill>
                <a:latin typeface="Calibri Light"/>
              </a:rPr>
              <a:t>AND MISSILE INTERCEPTION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4114800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1">
                <a:solidFill>
                  <a:srgbClr val="D6E4F7"/>
                </a:solidFill>
                <a:latin typeface="Calibri"/>
              </a:rPr>
              <a:t>Kalman Filtering  ·  Optimal Control  ·  Numerical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280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86A1A"/>
                </a:solidFill>
                <a:latin typeface="Calibri"/>
              </a:rPr>
              <a:t>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60520"/>
            <a:ext cx="6217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36008"/>
            <a:ext cx="1280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86A1A"/>
                </a:solidFill>
                <a:latin typeface="Calibri"/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636008"/>
            <a:ext cx="6217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11496"/>
            <a:ext cx="1280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86A1A"/>
                </a:solidFill>
                <a:latin typeface="Calibri"/>
              </a:rPr>
              <a:t>PREPARED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111496"/>
            <a:ext cx="6217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Ahmed Baghouli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6E4F7"/>
                </a:solidFill>
                <a:latin typeface="Calibri"/>
              </a:rPr>
              <a:t>Detecting and intercepting a maneuvering aerial target in real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3566160" cy="64008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3566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21408"/>
            <a:ext cx="3337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A6B"/>
                </a:solidFill>
                <a:latin typeface="Calibri"/>
              </a:rPr>
              <a:t>Sensor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542032"/>
            <a:ext cx="333756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50" b="0" i="0">
                <a:solidFill>
                  <a:srgbClr val="5A5A5A"/>
                </a:solidFill>
                <a:latin typeface="Calibri"/>
              </a:rPr>
              <a:t>Radar returns position with σ = 50 m Gaussian error,
masking the true trajectory behind noisy measurements.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566160" cy="64008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72768"/>
            <a:ext cx="3566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121408"/>
            <a:ext cx="3337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A6B"/>
                </a:solidFill>
                <a:latin typeface="Calibri"/>
              </a:rPr>
              <a:t>Target Evasion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542032"/>
            <a:ext cx="333756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50" b="0" i="0">
                <a:solidFill>
                  <a:srgbClr val="5A5A5A"/>
                </a:solidFill>
                <a:latin typeface="Calibri"/>
              </a:rPr>
              <a:t>The target executes random acceleration maneuvers
(q = 15 m/s²) to defeat predictive interception.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46304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463040"/>
            <a:ext cx="3566160" cy="64008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572768"/>
            <a:ext cx="3566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2121408"/>
            <a:ext cx="3337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A6B"/>
                </a:solidFill>
                <a:latin typeface="Calibri"/>
              </a:rPr>
              <a:t>Intercept Feasibility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2542032"/>
            <a:ext cx="333756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50" b="0" i="0">
                <a:solidFill>
                  <a:srgbClr val="5A5A5A"/>
                </a:solidFill>
                <a:latin typeface="Calibri"/>
              </a:rPr>
              <a:t>The missile (v = 800 m/s) must reach a predicted
future position before the engagement window closes.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77639"/>
            <a:ext cx="11365992" cy="22402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977639"/>
            <a:ext cx="64008" cy="224028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10789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Mission Objectives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9884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86A1A"/>
                </a:solidFill>
                <a:latin typeface="Calibri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98848"/>
            <a:ext cx="52120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Estimate true target state (position + velocity) from noisy radar measurements using a Kalman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9884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86A1A"/>
                </a:solidFill>
                <a:latin typeface="Calibri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498848"/>
            <a:ext cx="52120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Predict future target position under a constant-velocity model to compute an earliest feasible intercept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4748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86A1A"/>
                </a:solidFill>
                <a:latin typeface="Calibri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47488"/>
            <a:ext cx="52120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Command the missile along an optimal straight-line pursuit trajectory minimising miss distance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04748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86A1A"/>
                </a:solidFill>
                <a:latin typeface="Calibri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047488"/>
            <a:ext cx="52120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Validate the system performance against ground-truth simulation with quantitative 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Kalman Filter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6E4F7"/>
                </a:solidFill>
                <a:latin typeface="Calibri"/>
              </a:rPr>
              <a:t>Optimal minimum-variance state estimator for linear Gaussian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3657600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State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C2C2C"/>
                </a:solidFill>
                <a:latin typeface="Courier New"/>
              </a:rPr>
              <a:t>x = [p_x,  p_y,  v_x,  v_y ]ᵀ
position (m)  +  velocity (m/s)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5577840" cy="384048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5292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① 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73552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1325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10128"/>
            <a:ext cx="3977639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ourier New"/>
              </a:rPr>
              <a:t>x̂_{k|k−1} = F x̂_{k−1|k−1}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95344"/>
            <a:ext cx="5577840" cy="5669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31920"/>
            <a:ext cx="1325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Covariance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31920"/>
            <a:ext cx="3977639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ourier New"/>
              </a:rPr>
              <a:t>P_{k|k−1} = F P F ᵀ + Q_d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834640"/>
            <a:ext cx="5577840" cy="384048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85292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② UPDATE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73552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10128"/>
            <a:ext cx="1325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Innovation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10128"/>
            <a:ext cx="3977639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ourier New"/>
              </a:rPr>
              <a:t>S_k = H P_{k|k−1} H ᵀ + 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895344"/>
            <a:ext cx="5577840" cy="5669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931920"/>
            <a:ext cx="1325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Kalman 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931920"/>
            <a:ext cx="3977639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ourier New"/>
              </a:rPr>
              <a:t>K_k = P_{k|k−1} H ᵀ S_k⁻¹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517136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53712"/>
            <a:ext cx="1325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553712"/>
            <a:ext cx="3977639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ourier New"/>
              </a:rPr>
              <a:t>x̂_{k|k} = x̂_{k|k−1} + K_k (z_k − H x̂_{k|k−1})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5138928"/>
            <a:ext cx="5577840" cy="566928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5175504"/>
            <a:ext cx="132588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Covariance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175504"/>
            <a:ext cx="3977639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ourier New"/>
              </a:rPr>
              <a:t>P_{k|k} = (I − K_k H) P_{k|k−1} (I − K_k H)ᵀ + K_k R K_kᵀ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42432"/>
            <a:ext cx="11365992" cy="566928"/>
          </a:xfrm>
          <a:prstGeom prst="rect">
            <a:avLst/>
          </a:prstGeom>
          <a:solidFill>
            <a:srgbClr val="D6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742432"/>
            <a:ext cx="64008" cy="56692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779008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1B3A6B"/>
                </a:solidFill>
                <a:latin typeface="Calibri"/>
              </a:rPr>
              <a:t>Key property:  When sensor noise R is large → K → 0 (trust model).  When process noise Q is large → K → H⁻¹ (trust measurement).  Converges within ~3 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Results &amp;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6E4F7"/>
                </a:solidFill>
                <a:latin typeface="Calibri"/>
              </a:rPr>
              <a:t>Single-mission simulation  |  Δt = 0.5 s  |  T = 60 s  |  σ_radar = 50 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20574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57400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99616"/>
            <a:ext cx="2057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93392"/>
            <a:ext cx="2057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60.7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04872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A5A5A"/>
                </a:solidFill>
                <a:latin typeface="Calibri"/>
              </a:rPr>
              <a:t>Raw Radar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389888"/>
            <a:ext cx="20574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389888"/>
            <a:ext cx="2057400" cy="64008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499616"/>
            <a:ext cx="2057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993392"/>
            <a:ext cx="2057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33.7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04872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A5A5A"/>
                </a:solidFill>
                <a:latin typeface="Calibri"/>
              </a:rPr>
              <a:t>Kalman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79" y="1389888"/>
            <a:ext cx="20574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79" y="1389888"/>
            <a:ext cx="2057400" cy="64008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79" y="1499616"/>
            <a:ext cx="2057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79" y="1993392"/>
            <a:ext cx="2057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256EB4"/>
                </a:solidFill>
                <a:latin typeface="Calibri"/>
              </a:rPr>
              <a:t>44.5 %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2404872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A5A5A"/>
                </a:solidFill>
                <a:latin typeface="Calibri"/>
              </a:rPr>
              <a:t>Error Reduction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199" y="1389888"/>
            <a:ext cx="20574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199" y="1389888"/>
            <a:ext cx="2057400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9" y="1499616"/>
            <a:ext cx="2057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1993392"/>
            <a:ext cx="2057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86A1A"/>
                </a:solidFill>
                <a:latin typeface="Calibri"/>
              </a:rPr>
              <a:t>3.0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9" y="2404872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A5A5A"/>
                </a:solidFill>
                <a:latin typeface="Calibri"/>
              </a:rPr>
              <a:t>Filter Convergence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19" y="1389888"/>
            <a:ext cx="20574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19" y="1389888"/>
            <a:ext cx="2057400" cy="640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19" y="1499616"/>
            <a:ext cx="2057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1993392"/>
            <a:ext cx="2057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5.5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19" y="2404872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A5A5A"/>
                </a:solidFill>
                <a:latin typeface="Calibri"/>
              </a:rPr>
              <a:t>Intercept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944368"/>
            <a:ext cx="3419856" cy="34747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2980944"/>
            <a:ext cx="329183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58768" y="2944368"/>
            <a:ext cx="1956816" cy="34747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2980944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Raw Radar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944368"/>
            <a:ext cx="2231136" cy="34747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6752" y="2980944"/>
            <a:ext cx="21031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Kalman Filter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2944368"/>
            <a:ext cx="1956816" cy="34747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2" y="2980944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Improvement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291840"/>
            <a:ext cx="341985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3319272"/>
            <a:ext cx="329183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Avg. Position Error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8" y="3291840"/>
            <a:ext cx="195681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3319272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60.7 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291840"/>
            <a:ext cx="223113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16752" y="3319272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33.7 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3291840"/>
            <a:ext cx="195681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48472" y="3319272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7A4A"/>
                </a:solidFill>
                <a:latin typeface="Calibri"/>
              </a:rPr>
              <a:t>▼ 44.5 %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675888"/>
            <a:ext cx="341985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3703320"/>
            <a:ext cx="329183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Velocity Estimate RMS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58768" y="3675888"/>
            <a:ext cx="195681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0" y="3703320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675888"/>
            <a:ext cx="223113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16752" y="3703320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± 8.2 m/s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3675888"/>
            <a:ext cx="195681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48472" y="3703320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059936"/>
            <a:ext cx="341985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4087368"/>
            <a:ext cx="329183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Miss Distance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58768" y="4059936"/>
            <a:ext cx="195681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0" y="4087368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4059936"/>
            <a:ext cx="223113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16752" y="4087368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179.4 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4059936"/>
            <a:ext cx="195681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48472" y="4087368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443984"/>
            <a:ext cx="341985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" y="4471416"/>
            <a:ext cx="329183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Kill Radius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58768" y="4443984"/>
            <a:ext cx="195681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0" y="4471416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4443984"/>
            <a:ext cx="223113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16752" y="4471416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150 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75320" y="4443984"/>
            <a:ext cx="195681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48472" y="4471416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828032"/>
            <a:ext cx="341985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" y="4855464"/>
            <a:ext cx="329183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Intercept Time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58768" y="4828032"/>
            <a:ext cx="195681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31920" y="4855464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4828032"/>
            <a:ext cx="223113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16752" y="4855464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5.5 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75320" y="4828032"/>
            <a:ext cx="195681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48472" y="4855464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212080"/>
            <a:ext cx="341985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3192" y="5239512"/>
            <a:ext cx="329183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Compute Time / Step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58768" y="5212080"/>
            <a:ext cx="195681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31920" y="5239512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&lt; 0.1 ms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0" y="5212080"/>
            <a:ext cx="223113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16752" y="5239512"/>
            <a:ext cx="2103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&lt; 1 ms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75320" y="5212080"/>
            <a:ext cx="1956816" cy="3474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48472" y="5239512"/>
            <a:ext cx="1828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Real-time 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05872" y="2944368"/>
            <a:ext cx="1463040" cy="340156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405872" y="2944368"/>
            <a:ext cx="1463040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442448" y="3035808"/>
            <a:ext cx="13898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42448" y="3401568"/>
            <a:ext cx="138988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E86A1A"/>
                </a:solidFill>
                <a:latin typeface="Calibri"/>
              </a:rPr>
              <a:t>NEAR
MISS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42448" y="3931920"/>
            <a:ext cx="1389888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D6E4F7"/>
                </a:solidFill>
                <a:latin typeface="Calibri"/>
              </a:rPr>
              <a:t>179.4 m
vs
150 m
kill radius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42448" y="5074920"/>
            <a:ext cx="1389888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1">
                <a:solidFill>
                  <a:srgbClr val="ECF0F5"/>
                </a:solidFill>
                <a:latin typeface="Calibri"/>
              </a:rPr>
              <a:t>PN guidance
reduces to
&lt; 30 m
in trials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Intercept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6E4F7"/>
                </a:solidFill>
                <a:latin typeface="Calibri"/>
              </a:rPr>
              <a:t>Finding the earliest feasible missile–target rendezvous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39" y="1417320"/>
            <a:ext cx="1874519" cy="137160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39" y="1417320"/>
            <a:ext cx="187451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5" y="14813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79" y="1508760"/>
            <a:ext cx="3474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256EB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1" y="1856232"/>
            <a:ext cx="1737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Kalman
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2258568"/>
            <a:ext cx="1737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6E4F7"/>
                </a:solidFill>
                <a:latin typeface="Courier New"/>
              </a:rPr>
              <a:t>x̂ at launch
time 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1" y="1920240"/>
            <a:ext cx="2011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1B3A6B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81527" y="1417320"/>
            <a:ext cx="1874519" cy="137160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81527" y="1417320"/>
            <a:ext cx="187451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63823" y="14813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2968" y="1508760"/>
            <a:ext cx="3474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256EB4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79" y="1856232"/>
            <a:ext cx="1737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Predict
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2258568"/>
            <a:ext cx="1737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6E4F7"/>
                </a:solidFill>
                <a:latin typeface="Courier New"/>
              </a:rPr>
              <a:t>p_T(τ+t) =
p̂ + v̂·t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920240"/>
            <a:ext cx="2011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1B3A6B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7216" y="1417320"/>
            <a:ext cx="1874519" cy="137160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57216" y="1417320"/>
            <a:ext cx="1874519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39512" y="14813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48655" y="1508760"/>
            <a:ext cx="3474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E86A1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1856232"/>
            <a:ext cx="1737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Feasibility
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258568"/>
            <a:ext cx="1737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6E4F7"/>
                </a:solidFill>
                <a:latin typeface="Courier New"/>
              </a:rPr>
              <a:t>‖p_T − p_M‖
≤ v_m · t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1920240"/>
            <a:ext cx="2011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1B3A6B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2904" y="1417320"/>
            <a:ext cx="1874519" cy="137160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32904" y="1417320"/>
            <a:ext cx="187451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199" y="14813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24344" y="1508760"/>
            <a:ext cx="3474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256EB4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6056" y="1856232"/>
            <a:ext cx="1737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Intercept
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6056" y="2258568"/>
            <a:ext cx="1737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6E4F7"/>
                </a:solidFill>
                <a:latin typeface="Courier New"/>
              </a:rPr>
              <a:t>p* = p_T(τ+t*)
first valid 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1920240"/>
            <a:ext cx="2011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1B3A6B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08592" y="1417320"/>
            <a:ext cx="1874519" cy="137160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08592" y="1417320"/>
            <a:ext cx="187451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390888" y="148132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00032" y="1508760"/>
            <a:ext cx="3474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256EB4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1744" y="1856232"/>
            <a:ext cx="1737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Guidance
Command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2258568"/>
            <a:ext cx="1737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6E4F7"/>
                </a:solidFill>
                <a:latin typeface="Courier New"/>
              </a:rPr>
              <a:t>ψ* = atan2(
Δy, Δx)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063240"/>
            <a:ext cx="11365992" cy="54864"/>
          </a:xfrm>
          <a:prstGeom prst="rect">
            <a:avLst/>
          </a:prstGeom>
          <a:solidFill>
            <a:srgbClr val="D6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24612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3246120"/>
            <a:ext cx="54864" cy="86868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300984"/>
            <a:ext cx="51206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Constant-velocity prediction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63016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C2C2C"/>
                </a:solidFill>
                <a:latin typeface="Courier New"/>
              </a:rPr>
              <a:t>p_T(τ + t)  ≈  p̂(τ) + v̂(τ) · 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246120"/>
            <a:ext cx="5486400" cy="86868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3246120"/>
            <a:ext cx="54864" cy="86868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3300984"/>
            <a:ext cx="51206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Feasibility constraint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363016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C2C2C"/>
                </a:solidFill>
                <a:latin typeface="Courier New"/>
              </a:rPr>
              <a:t>‖ p_T(τ+t) − p_M ‖₂  ≤  v_m · 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25196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4251960"/>
            <a:ext cx="54864" cy="86868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4306824"/>
            <a:ext cx="51206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Optimal intercept 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63600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C2C2C"/>
                </a:solidFill>
                <a:latin typeface="Courier New"/>
              </a:rPr>
              <a:t>t* = min { t ∈ [Δt, T_max] : constraint satisfied 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4251960"/>
            <a:ext cx="5486400" cy="86868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4251960"/>
            <a:ext cx="54864" cy="86868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4306824"/>
            <a:ext cx="51206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Heading command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463600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C2C2C"/>
                </a:solidFill>
                <a:latin typeface="Courier New"/>
              </a:rPr>
              <a:t>ψ* = atan2(p*_y − p_My ,  p*_x − p_Mx)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321808"/>
            <a:ext cx="11365992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537667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D6E4F7"/>
                </a:solidFill>
                <a:latin typeface="Calibri"/>
              </a:rPr>
              <a:t>Algorithm complexity: O(T_max / Δt) ≈ 120 iterations  ·  Executes in &lt; 0.1 ms  ·  Satisfies 50 ms fire-control cycle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LQR Terminal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6E4F7"/>
                </a:solidFill>
                <a:latin typeface="Calibri"/>
              </a:rPr>
              <a:t>Linear Quadratic Regulator for optimal missile guidance in terminal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64008" cy="484632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Mathematical Formulation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901952"/>
            <a:ext cx="5349240" cy="8046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3852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Relative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31136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ourier New"/>
              </a:rPr>
              <a:t>δẋ = A δx + B u + d
δx = x_Target − x_Missile ∈ ℝ⁴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770632"/>
            <a:ext cx="53492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80720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Quadratic Cost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099816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ourier New"/>
              </a:rPr>
              <a:t>J = δxᵀ(t_f) S_f δx(t_f)
  + ∫[δxᵀ Q δx + uᵀ R_u u] dt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639312"/>
            <a:ext cx="5349240" cy="8046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675887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Optimal Control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968496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ourier New"/>
              </a:rPr>
              <a:t>u*(t) = −R_u⁻¹ Bᵀ P(t) δx(t)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507992"/>
            <a:ext cx="53492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54456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Differential Riccati Equation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837176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ourier New"/>
              </a:rPr>
              <a:t>−Ṗ = Aᵀ P + P A
   − P B R_u⁻¹ Bᵀ P + 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376672"/>
            <a:ext cx="5349240" cy="8046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41324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Algebraic Riccati (steady-state)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705856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ourier New"/>
              </a:rPr>
              <a:t>Aᵀ P∞ + P∞ A
   − P∞ B R_u⁻¹ Bᵀ P∞ + Q =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389888"/>
            <a:ext cx="5788152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1389888"/>
            <a:ext cx="64008" cy="214884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46304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847088"/>
            <a:ext cx="228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6A1A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847088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Backward RK4 integration of the Riccati ODE from P(t_f) = S_f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249424"/>
            <a:ext cx="228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6A1A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249424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Time-varying gain K(t) = R_u⁻¹ Bᵀ P(t) stored for forward playback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651760"/>
            <a:ext cx="228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6A1A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65176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Steady-state ARE solved via Schur decomposition (scipy.linalg)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054096"/>
            <a:ext cx="228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6A1A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054096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Constant gain K∞ guarantees global asymptotic stability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703320"/>
            <a:ext cx="5788152" cy="25328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3703320"/>
            <a:ext cx="64008" cy="2532888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767328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Weight Matrix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206240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6A1A"/>
                </a:solidFill>
                <a:latin typeface="Courier New"/>
              </a:rPr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206240"/>
            <a:ext cx="2834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diag[1/σ_p², 1/σ_p², 1/σ_v², 1/σ_v²]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4462272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6E4F7"/>
                </a:solidFill>
                <a:latin typeface="Calibri"/>
              </a:rPr>
              <a:t>penalises position &amp; velocity error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864607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6A1A"/>
                </a:solidFill>
                <a:latin typeface="Courier New"/>
              </a:rPr>
              <a:t>R_u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4864607"/>
            <a:ext cx="2834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1 / a_max²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51206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6E4F7"/>
                </a:solidFill>
                <a:latin typeface="Calibri"/>
              </a:rPr>
              <a:t>penalises control effort (fuel)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522975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6A1A"/>
                </a:solidFill>
                <a:latin typeface="Courier New"/>
              </a:rPr>
              <a:t>S_f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4848" y="5522975"/>
            <a:ext cx="2834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large · I₄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4848" y="5779007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6E4F7"/>
                </a:solidFill>
                <a:latin typeface="Calibri"/>
              </a:rPr>
              <a:t>enforces small terminal miss distance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6E4F7"/>
                </a:solidFill>
                <a:latin typeface="Calibri"/>
              </a:rPr>
              <a:t>End-to-end data flow from sensor to intercept command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286000" cy="11887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3619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🛩 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202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6E4F7"/>
                </a:solidFill>
                <a:latin typeface="Calibri"/>
              </a:rPr>
              <a:t>Constant-velocity
+ random evasion
q = 15 m/s²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2286000" cy="118872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09067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📡 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747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6E4F7"/>
                </a:solidFill>
                <a:latin typeface="Calibri"/>
              </a:rPr>
              <a:t>Position measurement
σ = 50 m noise
Δt = 0.5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011680"/>
            <a:ext cx="2651760" cy="137160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2011680"/>
            <a:ext cx="2651760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103120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⚙  KALMAN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487168"/>
            <a:ext cx="2651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ourier New"/>
              </a:rPr>
              <a:t>Predict:   x̂_{k|k−1} = F x̂
Update: K = P Hᵀ S⁻¹
Output: x̂, P (4-D state)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2651760" cy="13716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2651760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🎯 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87168"/>
            <a:ext cx="2651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ourier New"/>
              </a:rPr>
              <a:t>Scan t ∈ [0, T_max]
Feasibility check
Output: p*, t*, ψ*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011680"/>
            <a:ext cx="2130552" cy="137160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2011680"/>
            <a:ext cx="2130552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103120"/>
            <a:ext cx="2130552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🚀  MISSILE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487168"/>
            <a:ext cx="2130552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ourier New"/>
              </a:rPr>
              <a:t>v_m = 800 m/s
ψ* heading cmd
→ Intercept p*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2496312"/>
            <a:ext cx="44805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1B3A6B"/>
                </a:solidFill>
                <a:latin typeface="Calibri"/>
              </a:rPr>
              <a:t>──▶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2496312"/>
            <a:ext cx="68579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1B3A6B"/>
                </a:solidFill>
                <a:latin typeface="Calibri"/>
              </a:rPr>
              <a:t>──▶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496312"/>
            <a:ext cx="50291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1B3A6B"/>
                </a:solidFill>
                <a:latin typeface="Calibri"/>
              </a:rPr>
              <a:t>──▶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429000"/>
            <a:ext cx="1234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A5A5A"/>
                </a:solidFill>
                <a:latin typeface="Calibri"/>
              </a:rPr>
              <a:t>z_k ──▶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2103120"/>
            <a:ext cx="10972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6A1A"/>
                </a:solidFill>
                <a:latin typeface="Calibri"/>
              </a:rPr>
              <a:t>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1952" y="210312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True state x(t)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3611880"/>
            <a:ext cx="10972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6A1A"/>
                </a:solidFill>
                <a:latin typeface="Calibri"/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1952" y="361188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Noisy measurement z_k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3208" y="2103120"/>
            <a:ext cx="10972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6A1A"/>
                </a:solidFill>
                <a:latin typeface="Calibri"/>
              </a:rPr>
              <a:t>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10312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Estimated state x̂_k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2103120"/>
            <a:ext cx="10972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6A1A"/>
                </a:solidFill>
                <a:latin typeface="Calibri"/>
              </a:rPr>
              <a:t>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10312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Intercept cmd p*, ψ*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407408"/>
            <a:ext cx="11503152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407408"/>
            <a:ext cx="11503152" cy="54864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480560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Numerical Methods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882896"/>
            <a:ext cx="201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56EB4"/>
                </a:solidFill>
                <a:latin typeface="Calibri"/>
              </a:rPr>
              <a:t>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" y="4882896"/>
            <a:ext cx="1417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RK4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4882896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4th-order Runge–Kutta, O(Δt⁵) local error, Δt = 0.5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882896"/>
            <a:ext cx="201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56EB4"/>
                </a:solidFill>
                <a:latin typeface="Calibri"/>
              </a:rP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4882896"/>
            <a:ext cx="1417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Singer Noise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882896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Q_d matrix from continuous spectral density q²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504688"/>
            <a:ext cx="201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56EB4"/>
                </a:solidFill>
                <a:latin typeface="Calibri"/>
              </a:rPr>
              <a:t>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5504688"/>
            <a:ext cx="1417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Joseph Stabilised KF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5504688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P = (I−KH)P(I−KH)ᵀ + KRKᵀ  guarantees P ≥ 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504688"/>
            <a:ext cx="201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56EB4"/>
                </a:solidFill>
                <a:latin typeface="Calibri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5504688"/>
            <a:ext cx="1417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Schur ARE Solver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504688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scipy.linalg.solve_continuous_are for LQR gain K∞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Tracking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6E4F7"/>
                </a:solidFill>
                <a:latin typeface="Calibri"/>
              </a:rPr>
              <a:t>Kalman filter vs raw radar — 60-second mission 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71323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7132320" cy="54864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359152"/>
            <a:ext cx="7040880" cy="109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328416"/>
            <a:ext cx="7040880" cy="109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97680"/>
            <a:ext cx="7040880" cy="109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266944"/>
            <a:ext cx="7040880" cy="10972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1435608"/>
            <a:ext cx="10972" cy="475488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435608"/>
            <a:ext cx="10972" cy="475488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0" y="1435608"/>
            <a:ext cx="10972" cy="475488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435608"/>
            <a:ext cx="10972" cy="475488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35608"/>
            <a:ext cx="10972" cy="475488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77900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5087" y="550468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30096" y="523036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5104" y="495604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0112" y="468172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5119" y="440740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128" y="413308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55136" y="385876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0144" y="358444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331012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90160" y="303580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35168" y="276148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0176" y="248716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25184" y="221284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70192" y="1938528"/>
            <a:ext cx="455980" cy="5029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257" y="5576929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5311" y="5367853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562218" y="524281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058483" y="477435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48689" y="448122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726780" y="436345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08551" y="398823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758755" y="3827842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62397" y="3568112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01291" y="3101955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145110" y="3055312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436861" y="2602357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84963" y="2387657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45402" y="2034373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38861" y="1926952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70581" y="1694112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2067" y="5804965"/>
            <a:ext cx="447329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8423" y="5507543"/>
            <a:ext cx="480717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48168" y="5236870"/>
            <a:ext cx="457753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94948" y="4960291"/>
            <a:ext cx="447359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31335" y="4656810"/>
            <a:ext cx="429828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50191" y="4395852"/>
            <a:ext cx="447855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87073" y="4118427"/>
            <a:ext cx="457144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33245" y="3846586"/>
            <a:ext cx="485315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7588" y="3577032"/>
            <a:ext cx="441414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38029" y="3294190"/>
            <a:ext cx="450318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77375" y="3059764"/>
            <a:ext cx="476887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43289" y="2767475"/>
            <a:ext cx="429816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62133" y="2499738"/>
            <a:ext cx="455556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6716" y="2206234"/>
            <a:ext cx="501305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97049" y="1946208"/>
            <a:ext cx="432248" cy="36576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327648"/>
            <a:ext cx="7132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A5A5A"/>
                </a:solidFill>
                <a:latin typeface="Calibri"/>
              </a:rPr>
              <a:t>Time / Position  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" y="1481328"/>
            <a:ext cx="274320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Y
↑</a:t>
            </a:r>
          </a:p>
        </p:txBody>
      </p:sp>
      <p:sp>
        <p:nvSpPr>
          <p:cNvPr id="66" name="Oval 65"/>
          <p:cNvSpPr/>
          <p:nvPr/>
        </p:nvSpPr>
        <p:spPr>
          <a:xfrm>
            <a:off x="658368" y="5916168"/>
            <a:ext cx="146304" cy="146304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588873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True Trajectory</a:t>
            </a:r>
          </a:p>
        </p:txBody>
      </p:sp>
      <p:sp>
        <p:nvSpPr>
          <p:cNvPr id="68" name="Oval 67"/>
          <p:cNvSpPr/>
          <p:nvPr/>
        </p:nvSpPr>
        <p:spPr>
          <a:xfrm>
            <a:off x="2990087" y="591616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0" y="588873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Radar Measurements</a:t>
            </a:r>
          </a:p>
        </p:txBody>
      </p:sp>
      <p:sp>
        <p:nvSpPr>
          <p:cNvPr id="70" name="Oval 69"/>
          <p:cNvSpPr/>
          <p:nvPr/>
        </p:nvSpPr>
        <p:spPr>
          <a:xfrm>
            <a:off x="5321807" y="5916168"/>
            <a:ext cx="146304" cy="146304"/>
          </a:xfrm>
          <a:prstGeom prst="ellipse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32120" y="588873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Kalman Estimate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26679" y="1389888"/>
            <a:ext cx="4142232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26679" y="1389888"/>
            <a:ext cx="64008" cy="48463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60" y="1463040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Tracking Observations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90688" y="1920240"/>
            <a:ext cx="4005072" cy="77724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36992" y="1956816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📍 Raw Error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6992" y="2286000"/>
            <a:ext cx="374903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Average position error 60.7 m — highly noisy, difficult to use directly for targeting.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90688" y="2770632"/>
            <a:ext cx="400507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36992" y="2807208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🎯 Kalman Error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3136392"/>
            <a:ext cx="374903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Filter reduces average error to 33.7 m (44.5 % improvement) with rapid convergence.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90688" y="3621024"/>
            <a:ext cx="4005072" cy="77724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36992" y="365760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⏱ Convergence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36992" y="3986784"/>
            <a:ext cx="374903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Filter reaches steady-state tracking within ~3 s of mission start despite P₀ = 5000·I.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90688" y="4471416"/>
            <a:ext cx="400507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36992" y="4507992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📐 Velocity Est.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36992" y="4837176"/>
            <a:ext cx="374903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Velocity is unobservable from position alone; Kalman infers it with RMS ≈ ±8.2 m/s.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90688" y="5321808"/>
            <a:ext cx="4005072" cy="77724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36992" y="5358384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56EB4"/>
                </a:solidFill>
                <a:latin typeface="Calibri"/>
              </a:rPr>
              <a:t>🔄 Innovation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36992" y="5687568"/>
            <a:ext cx="374903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Innovation sequence z_k − H x̂_{k|k−1} is white after convergence, confirming consistency.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Intercept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D6E4F7"/>
                </a:solidFill>
                <a:latin typeface="Calibri"/>
              </a:rPr>
              <a:t>Missile engagement geometry  |  Launch at t = 10 s  |  v_missile = 800 m/s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6858000" cy="4846320"/>
          </a:xfrm>
          <a:prstGeom prst="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359152"/>
            <a:ext cx="6766560" cy="10972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328416"/>
            <a:ext cx="6766560" cy="10972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297680"/>
            <a:ext cx="6766560" cy="10972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5266944"/>
            <a:ext cx="6766560" cy="10972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8760" y="1435608"/>
            <a:ext cx="10972" cy="475488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435608"/>
            <a:ext cx="10972" cy="475488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94760" y="1435608"/>
            <a:ext cx="10972" cy="475488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435608"/>
            <a:ext cx="10972" cy="475488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435608"/>
            <a:ext cx="10972" cy="475488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3" y="5833872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4172" y="5533426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04841" y="5232980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55509" y="4932534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06178" y="4632089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56846" y="4331643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07515" y="4031197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8184" y="3730752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08852" y="3430306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59521" y="3129860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0189" y="2829414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60858" y="2528969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11526" y="2228523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62195" y="1928077"/>
            <a:ext cx="73152" cy="73152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00814" y="4075611"/>
            <a:ext cx="585216" cy="585216"/>
          </a:xfrm>
          <a:prstGeom prst="ellipse">
            <a:avLst/>
          </a:prstGeom>
          <a:solidFill>
            <a:srgbClr val="0D0D1A"/>
          </a:solidFill>
          <a:ln w="1524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5779008"/>
            <a:ext cx="-416019" cy="457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82367" y="5602659"/>
            <a:ext cx="-416019" cy="457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55375" y="5426310"/>
            <a:ext cx="-416019" cy="457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8383" y="5249962"/>
            <a:ext cx="-416019" cy="457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01391" y="5073613"/>
            <a:ext cx="-416019" cy="457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74399" y="4897265"/>
            <a:ext cx="-416019" cy="457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47407" y="4720916"/>
            <a:ext cx="-416019" cy="457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20415" y="4544568"/>
            <a:ext cx="-416019" cy="457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012294" y="4121331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2254" y="4112187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F2222"/>
                </a:solidFill>
                <a:latin typeface="Calibri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5724144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E86A1A"/>
                </a:solidFill>
                <a:latin typeface="Calibri"/>
              </a:rPr>
              <a:t>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1499616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A7A4A"/>
                </a:solidFill>
                <a:latin typeface="Calibri"/>
              </a:rPr>
              <a:t>TARGET 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66574" y="3956739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4444"/>
                </a:solidFill>
                <a:latin typeface="Calibri"/>
              </a:rPr>
              <a:t>INTERCEPT 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5870448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MISSILE LAUNCH 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84862" y="4569387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7A4A"/>
                </a:solidFill>
                <a:latin typeface="Calibri"/>
              </a:rPr>
              <a:t>TARGET @ t=t*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2360" y="1389888"/>
            <a:ext cx="4416552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52360" y="1389888"/>
            <a:ext cx="64008" cy="484632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62672" y="1463040"/>
            <a:ext cx="4114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A6B"/>
                </a:solidFill>
                <a:latin typeface="Calibri"/>
              </a:rPr>
              <a:t>Engagement Metrics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16368" y="1920240"/>
            <a:ext cx="4279392" cy="603504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62672" y="1956816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Intercept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2672" y="2231136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after missile launch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2011680"/>
            <a:ext cx="1554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256EB4"/>
                </a:solidFill>
                <a:latin typeface="Calibri"/>
              </a:rPr>
              <a:t>5.5 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16368" y="2578608"/>
            <a:ext cx="427939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62672" y="261518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Miss Distance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62672" y="2889504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Kalman prediction error accumulated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2670048"/>
            <a:ext cx="1554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C0392B"/>
                </a:solidFill>
                <a:latin typeface="Calibri"/>
              </a:rPr>
              <a:t>179.4 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16368" y="3236976"/>
            <a:ext cx="4279392" cy="603504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62672" y="32735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Kill Radius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62672" y="354787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lethal radius threshold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3328416"/>
            <a:ext cx="1554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5A5A5A"/>
                </a:solidFill>
                <a:latin typeface="Calibri"/>
              </a:rPr>
              <a:t>150.0 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16368" y="3895344"/>
            <a:ext cx="427939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62672" y="3931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Prediction Error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62672" y="4206240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over kill radius → NEAR MISS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0" y="3986783"/>
            <a:ext cx="1554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E86A1A"/>
                </a:solidFill>
                <a:latin typeface="Calibri"/>
              </a:rPr>
              <a:t>+29.4 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16368" y="4553712"/>
            <a:ext cx="4279392" cy="603504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62672" y="459028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Missile Speed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62672" y="4864608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constant straight-line pursuit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4645152"/>
            <a:ext cx="1554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256EB4"/>
                </a:solidFill>
                <a:latin typeface="Calibri"/>
              </a:rPr>
              <a:t>800 m/s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16368" y="5212079"/>
            <a:ext cx="427939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62672" y="5248655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5A5A5A"/>
                </a:solidFill>
                <a:latin typeface="Calibri"/>
              </a:rPr>
              <a:t>Target Speed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2672" y="5522975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5A5A5A"/>
                </a:solidFill>
                <a:latin typeface="Calibri"/>
              </a:rPr>
              <a:t>with evasive maneuvers q=15 m/s²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9840" y="5303519"/>
            <a:ext cx="1554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256EB4"/>
                </a:solidFill>
                <a:latin typeface="Calibri"/>
              </a:rPr>
              <a:t>300 m/s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52360" y="5559552"/>
            <a:ext cx="4416552" cy="676656"/>
          </a:xfrm>
          <a:prstGeom prst="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52360" y="5559552"/>
            <a:ext cx="4416552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07808" y="5623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86A1A"/>
                </a:solidFill>
                <a:latin typeface="Calibri"/>
              </a:rPr>
              <a:t>Outcome:  NEAR MISS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07808" y="58978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>PN / LQR guidance → &lt; 30 m expected miss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· Ahmed Baghouli · May 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25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42832" y="0"/>
            <a:ext cx="54864" cy="685800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13264" y="2971800"/>
            <a:ext cx="914400" cy="914400"/>
          </a:xfrm>
          <a:prstGeom prst="ellipse">
            <a:avLst/>
          </a:prstGeom>
          <a:solidFill>
            <a:srgbClr val="1B3A6B"/>
          </a:solidFill>
          <a:ln w="1016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56064" y="2514600"/>
            <a:ext cx="1828800" cy="1828800"/>
          </a:xfrm>
          <a:prstGeom prst="ellipse">
            <a:avLst/>
          </a:prstGeom>
          <a:solidFill>
            <a:srgbClr val="1B3A6B"/>
          </a:solidFill>
          <a:ln w="1016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98864" y="2057400"/>
            <a:ext cx="2743200" cy="2743200"/>
          </a:xfrm>
          <a:prstGeom prst="ellipse">
            <a:avLst/>
          </a:prstGeom>
          <a:solidFill>
            <a:srgbClr val="1B3A6B"/>
          </a:solidFill>
          <a:ln w="1016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41664" y="1600200"/>
            <a:ext cx="3657600" cy="3657600"/>
          </a:xfrm>
          <a:prstGeom prst="ellipse">
            <a:avLst/>
          </a:prstGeom>
          <a:solidFill>
            <a:srgbClr val="1B3A6B"/>
          </a:solidFill>
          <a:ln w="10160">
            <a:solidFill>
              <a:srgbClr val="D6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42448" y="3300984"/>
            <a:ext cx="256032" cy="256032"/>
          </a:xfrm>
          <a:prstGeom prst="ellipse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74352" y="3401568"/>
            <a:ext cx="1792224" cy="54864"/>
          </a:xfrm>
          <a:prstGeom prst="rect">
            <a:avLst/>
          </a:prstGeom>
          <a:solidFill>
            <a:srgbClr val="D6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43032" y="2523744"/>
            <a:ext cx="54864" cy="1792224"/>
          </a:xfrm>
          <a:prstGeom prst="rect">
            <a:avLst/>
          </a:prstGeom>
          <a:solidFill>
            <a:srgbClr val="D6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Conclusion &amp; Future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987552"/>
            <a:ext cx="4114800" cy="64008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143000"/>
            <a:ext cx="8046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D6E4F7"/>
                </a:solidFill>
                <a:latin typeface="Calibri"/>
              </a:rPr>
              <a:t>Key Achievements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72768"/>
            <a:ext cx="8119872" cy="594360"/>
          </a:xfrm>
          <a:prstGeom prst="rect">
            <a:avLst/>
          </a:prstGeom>
          <a:solidFill>
            <a:srgbClr val="254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572768"/>
            <a:ext cx="54864" cy="59436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618488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Kalman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1618488"/>
            <a:ext cx="6126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44.5 % reduction in position error vs raw radar — converges within 3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31136"/>
            <a:ext cx="8119872" cy="594360"/>
          </a:xfrm>
          <a:prstGeom prst="rect">
            <a:avLst/>
          </a:prstGeom>
          <a:solidFill>
            <a:srgbClr val="254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231136"/>
            <a:ext cx="54864" cy="59436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276856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Intercept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276856"/>
            <a:ext cx="6126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O(N) greedy search finds earliest feasible aim point in &lt; 0.1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89504"/>
            <a:ext cx="8119872" cy="594360"/>
          </a:xfrm>
          <a:prstGeom prst="rect">
            <a:avLst/>
          </a:prstGeom>
          <a:solidFill>
            <a:srgbClr val="254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89504"/>
            <a:ext cx="54864" cy="59436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35224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LQR Guidance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935224"/>
            <a:ext cx="6126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Optimal terminal guidance derived from Hamilton–Jacobi–Bellman; ARE solved via Schur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47872"/>
            <a:ext cx="8119872" cy="594360"/>
          </a:xfrm>
          <a:prstGeom prst="rect">
            <a:avLst/>
          </a:prstGeom>
          <a:solidFill>
            <a:srgbClr val="254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547872"/>
            <a:ext cx="54864" cy="594360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593591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593591"/>
            <a:ext cx="6126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Full 60-second 2-D mission validated with near-miss outcome (179.4 m, kill 150 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97680"/>
            <a:ext cx="8046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D6E4F7"/>
                </a:solidFill>
                <a:latin typeface="Calibri"/>
              </a:rPr>
              <a:t>Future Research Directions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18304"/>
            <a:ext cx="237744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6A1A"/>
                </a:solidFill>
                <a:latin typeface="Calibri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718304"/>
            <a:ext cx="7589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3-D engagement geometry with aerodynamic drag and gravity compensation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02352"/>
            <a:ext cx="237744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6A1A"/>
                </a:solidFill>
                <a:latin typeface="Calibri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102352"/>
            <a:ext cx="7589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Extended / Unscented Kalman filters for nonlinear radar measurement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86400"/>
            <a:ext cx="237744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6A1A"/>
                </a:solidFill>
                <a:latin typeface="Calibri"/>
              </a:rPr>
              <a:t>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486400"/>
            <a:ext cx="7589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Multi-target tracking with probabilistic data association (JPDA / MHT)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70448"/>
            <a:ext cx="237744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6A1A"/>
                </a:solidFill>
                <a:latin typeface="Calibri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870448"/>
            <a:ext cx="7589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6E4F7"/>
                </a:solidFill>
                <a:latin typeface="Calibri"/>
              </a:rPr>
              <a:t>Reinforcement-learning guidance against highly agile, unpredictable 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601968"/>
            <a:ext cx="8686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6E4F7"/>
                </a:solidFill>
                <a:latin typeface="Calibri"/>
              </a:rPr>
              <a:t>Mathematics Project  ·  Ahmed Baghouli  ·  May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601968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